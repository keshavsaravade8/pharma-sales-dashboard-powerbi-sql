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4" r:id="rId13"/>
    <p:sldId id="285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72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65EB8-26FE-D217-24E6-5E3BC9A55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1CF95-12DC-0062-C6BB-7D7C6DA36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0425" y="480547"/>
            <a:ext cx="5156416" cy="286453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2000" b="1" u="sng" dirty="0"/>
              <a:t>Top Performing Category</a:t>
            </a:r>
          </a:p>
          <a:p>
            <a:pPr marL="0" indent="0" defTabSz="914400">
              <a:lnSpc>
                <a:spcPct val="90000"/>
              </a:lnSpc>
              <a:buNone/>
            </a:pPr>
            <a:endParaRPr lang="en-US" sz="1800" b="1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800" b="1" dirty="0"/>
              <a:t>SELECT </a:t>
            </a:r>
            <a:r>
              <a:rPr lang="en-US" sz="1800" b="1" dirty="0" err="1"/>
              <a:t>ATC_Code</a:t>
            </a:r>
            <a:r>
              <a:rPr lang="en-US" sz="1800" b="1" dirty="0"/>
              <a:t>, SUM(Sales) AS </a:t>
            </a:r>
            <a:r>
              <a:rPr lang="en-US" sz="1800" b="1" dirty="0" err="1"/>
              <a:t>Total_Sales</a:t>
            </a:r>
            <a:endParaRPr lang="en-US" sz="1800" b="1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800" b="1" dirty="0"/>
              <a:t>FROM </a:t>
            </a:r>
            <a:r>
              <a:rPr lang="en-US" sz="1800" b="1" dirty="0" err="1"/>
              <a:t>pharma_sales_final</a:t>
            </a:r>
            <a:endParaRPr lang="en-US" sz="1800" b="1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800" b="1" dirty="0"/>
              <a:t>GROUP BY </a:t>
            </a:r>
            <a:r>
              <a:rPr lang="en-US" sz="1800" b="1" dirty="0" err="1"/>
              <a:t>ATC_Code</a:t>
            </a:r>
            <a:endParaRPr lang="en-US" sz="1800" b="1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800" b="1" dirty="0"/>
              <a:t>ORDER BY </a:t>
            </a:r>
            <a:r>
              <a:rPr lang="en-US" sz="1800" b="1" dirty="0" err="1"/>
              <a:t>Total_Sales</a:t>
            </a:r>
            <a:r>
              <a:rPr lang="en-US" sz="1800" b="1" dirty="0"/>
              <a:t> DESC;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41D61F-235D-6F60-45FB-764290AE0D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36294" y="3659179"/>
            <a:ext cx="4121974" cy="310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82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B9A0C-5792-4B7C-FC01-BE31CE62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A51446B-8E03-ADD8-D8AC-DBB381AB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CE651-16D4-42ED-E96C-7660F11CD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15DCD0-6F83-F69B-A01C-F410EFB6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42F08C-EF8D-1C4B-CC5E-8CB84346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76B0566-E2BF-893C-106F-B4EC7820D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1195B9-4326-F7E4-F7EA-85E8B68A7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31725-D6FC-EFDC-7246-BC3AC1A3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884A9-0321-5427-8C61-7127A664B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0425" y="442982"/>
            <a:ext cx="4758375" cy="2389118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IN" sz="3600" b="1" u="sng" dirty="0"/>
              <a:t>Lowest Performing Category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GB" sz="3200" b="1" dirty="0"/>
              <a:t>SELECT </a:t>
            </a:r>
            <a:r>
              <a:rPr lang="en-GB" sz="3200" b="1" dirty="0" err="1"/>
              <a:t>ATC_Code</a:t>
            </a:r>
            <a:r>
              <a:rPr lang="en-GB" sz="3200" b="1" dirty="0"/>
              <a:t>, SUM(Sales) AS </a:t>
            </a:r>
            <a:r>
              <a:rPr lang="en-GB" sz="3200" b="1" dirty="0" err="1"/>
              <a:t>Total_Sales</a:t>
            </a:r>
            <a:endParaRPr lang="en-GB" sz="3200" b="1" dirty="0"/>
          </a:p>
          <a:p>
            <a:pPr marL="0" indent="0">
              <a:buNone/>
            </a:pPr>
            <a:r>
              <a:rPr lang="en-IN" sz="3200" b="1" dirty="0"/>
              <a:t>FROM </a:t>
            </a:r>
            <a:r>
              <a:rPr lang="en-IN" sz="3200" b="1" dirty="0" err="1"/>
              <a:t>pharma_sales_final</a:t>
            </a:r>
            <a:endParaRPr lang="en-IN" sz="3200" b="1" dirty="0"/>
          </a:p>
          <a:p>
            <a:pPr marL="0" indent="0">
              <a:buNone/>
            </a:pPr>
            <a:r>
              <a:rPr lang="en-IN" sz="3200" b="1" dirty="0"/>
              <a:t>GROUP BY </a:t>
            </a:r>
            <a:r>
              <a:rPr lang="en-IN" sz="3200" b="1" dirty="0" err="1"/>
              <a:t>ATC_Code</a:t>
            </a:r>
            <a:endParaRPr lang="en-IN" sz="3200" b="1" dirty="0"/>
          </a:p>
          <a:p>
            <a:pPr marL="0" indent="0">
              <a:buNone/>
            </a:pPr>
            <a:r>
              <a:rPr lang="en-GB" sz="3200" b="1" dirty="0"/>
              <a:t>ORDER BY </a:t>
            </a:r>
            <a:r>
              <a:rPr lang="en-GB" sz="3200" b="1" dirty="0" err="1"/>
              <a:t>Total_Sales</a:t>
            </a:r>
            <a:r>
              <a:rPr lang="en-GB" sz="3200" b="1" dirty="0"/>
              <a:t> ASC;</a:t>
            </a:r>
            <a:endParaRPr lang="en-US" sz="3200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B1FC345-78CE-FAAD-2AF0-BED6FE1566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20425" y="3147959"/>
            <a:ext cx="4136075" cy="326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73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B3FA5-8377-E141-C721-002C32A64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10202A6-6744-8CC4-A33F-C39C52171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9AC8AB-5060-D147-5525-0B325289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129BA8-82E7-607D-510B-6E35E7B3F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8BB71C-1A38-A084-24E5-62453B403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897C59C-B6DE-0088-3309-38852A506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B6D791-A5A4-640C-B403-2924CC056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CEE9A-3DEF-B9E6-D5B1-F24B3A92B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F00AD-ED7F-6FE5-9D28-DF0107020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0425" y="330047"/>
            <a:ext cx="4694875" cy="2463953"/>
          </a:xfr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indent="0">
              <a:buNone/>
            </a:pPr>
            <a:r>
              <a:rPr lang="en-IN" sz="6200" b="1" u="sng" dirty="0"/>
              <a:t>Day-wise Pattern</a:t>
            </a:r>
          </a:p>
          <a:p>
            <a:pPr marL="0" indent="0">
              <a:buNone/>
            </a:pPr>
            <a:endParaRPr lang="en-IN" sz="5500" b="1" dirty="0"/>
          </a:p>
          <a:p>
            <a:pPr marL="0" indent="0">
              <a:buNone/>
            </a:pPr>
            <a:r>
              <a:rPr lang="en-GB" sz="5500" b="1" dirty="0"/>
              <a:t>SELECT DATENAME(WEEKDAY, Date) AS </a:t>
            </a:r>
            <a:r>
              <a:rPr lang="en-GB" sz="5500" b="1" dirty="0" err="1"/>
              <a:t>Day_Name</a:t>
            </a:r>
            <a:r>
              <a:rPr lang="en-GB" sz="5500" b="1" dirty="0"/>
              <a:t>,</a:t>
            </a:r>
          </a:p>
          <a:p>
            <a:pPr marL="0" indent="0">
              <a:buNone/>
            </a:pPr>
            <a:r>
              <a:rPr lang="en-GB" sz="5500" b="1" dirty="0"/>
              <a:t>      SUM(Sales) AS </a:t>
            </a:r>
            <a:r>
              <a:rPr lang="en-GB" sz="5500" b="1" dirty="0" err="1"/>
              <a:t>Total_Sales</a:t>
            </a:r>
            <a:endParaRPr lang="en-GB" sz="5500" b="1" dirty="0"/>
          </a:p>
          <a:p>
            <a:pPr marL="0" indent="0">
              <a:buNone/>
            </a:pPr>
            <a:r>
              <a:rPr lang="en-IN" sz="5500" b="1" dirty="0"/>
              <a:t>FROM </a:t>
            </a:r>
            <a:r>
              <a:rPr lang="en-IN" sz="5500" b="1" dirty="0" err="1"/>
              <a:t>pharma_sales_final</a:t>
            </a:r>
            <a:endParaRPr lang="en-IN" sz="5500" b="1" dirty="0"/>
          </a:p>
          <a:p>
            <a:pPr marL="0" indent="0">
              <a:buNone/>
            </a:pPr>
            <a:r>
              <a:rPr lang="en-GB" sz="5500" b="1" dirty="0"/>
              <a:t>GROUP BY DATENAME(WEEKDAY, Date);</a:t>
            </a:r>
            <a:endParaRPr lang="en-US" sz="55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E385BB-DABF-60C5-E115-32E6BE431E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20425" y="3005886"/>
            <a:ext cx="4291703" cy="352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91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92107-C4E4-2917-BFF2-5B7ABCC05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87DC68A-C166-8BE0-F5F5-2DCC1C672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150571-7BC7-F5D7-E0F8-5EF01566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076D55-0393-3475-7FA5-AE404D900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0689F2-9E6E-7DA8-A552-50070E7D8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AFCAB5E-202E-D37D-1964-2A0555362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B4AF0-C614-CBB5-6430-8E5D1C17A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DFA4D8-12E3-0125-EEF7-62B59C0A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FFF4C-8B6E-2EBF-90AD-2FAAD55A0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0425" y="974020"/>
            <a:ext cx="4910775" cy="2454980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IN" sz="3100" b="1" u="sng" dirty="0"/>
              <a:t>Peak Sales Day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GB" b="1" dirty="0"/>
              <a:t>SELECT TOP 1 Date, SUM(Sales) AS </a:t>
            </a:r>
            <a:r>
              <a:rPr lang="en-GB" b="1" dirty="0" err="1"/>
              <a:t>Total_Sales</a:t>
            </a:r>
            <a:endParaRPr lang="en-GB" b="1" dirty="0"/>
          </a:p>
          <a:p>
            <a:pPr marL="0" indent="0">
              <a:buNone/>
            </a:pPr>
            <a:r>
              <a:rPr lang="en-IN" b="1" dirty="0"/>
              <a:t>FROM </a:t>
            </a:r>
            <a:r>
              <a:rPr lang="en-IN" b="1" dirty="0" err="1"/>
              <a:t>pharma_sales_final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GROUP BY Date</a:t>
            </a:r>
          </a:p>
          <a:p>
            <a:pPr marL="0" indent="0">
              <a:buNone/>
            </a:pPr>
            <a:r>
              <a:rPr lang="en-GB" b="1" dirty="0"/>
              <a:t>ORDER BY </a:t>
            </a:r>
            <a:r>
              <a:rPr lang="en-GB" b="1" dirty="0" err="1"/>
              <a:t>Total_Sales</a:t>
            </a:r>
            <a:r>
              <a:rPr lang="en-GB" b="1" dirty="0"/>
              <a:t> DESC;</a:t>
            </a:r>
            <a:endParaRPr lang="en-US" sz="17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2754CA7-1520-9250-4621-50A984D293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20425" y="4155056"/>
            <a:ext cx="4263127" cy="213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671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3A8DF-F33A-2C27-379C-DAEF27148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455116-1695-D47C-E99C-1996DFE20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ED9EC3-B4A1-D397-A2EC-80041499A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BB4406-1781-F27B-E3C3-642548882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03D834-8408-3DA1-56AC-04E55CFE3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CC83148-0DF1-184E-AADA-17C74BD9C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A2EAD0-8C88-383F-B4A5-1541887DF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4D730E-4382-296F-931D-2816120B7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A22D9-BCC9-89AB-4B74-A5BB913E9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0425" y="974020"/>
            <a:ext cx="4412305" cy="176509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IN" sz="2000" b="1" u="sng" dirty="0"/>
              <a:t>Zero Sales Days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GB" sz="1800" b="1" dirty="0"/>
              <a:t>SELECT COUNT(*) AS </a:t>
            </a:r>
            <a:r>
              <a:rPr lang="en-GB" sz="1800" b="1" dirty="0" err="1"/>
              <a:t>Zero_Sales_Days</a:t>
            </a:r>
            <a:endParaRPr lang="en-GB" sz="1800" b="1" dirty="0"/>
          </a:p>
          <a:p>
            <a:pPr marL="0" indent="0">
              <a:buNone/>
            </a:pPr>
            <a:r>
              <a:rPr lang="en-IN" sz="1800" b="1" dirty="0"/>
              <a:t>FROM (</a:t>
            </a:r>
          </a:p>
          <a:p>
            <a:pPr marL="0" indent="0">
              <a:buNone/>
            </a:pPr>
            <a:r>
              <a:rPr lang="en-IN" sz="1800" b="1" dirty="0"/>
              <a:t>    SELECT Date</a:t>
            </a:r>
          </a:p>
          <a:p>
            <a:pPr marL="0" indent="0">
              <a:buNone/>
            </a:pPr>
            <a:r>
              <a:rPr lang="en-IN" sz="1800" b="1" dirty="0"/>
              <a:t>    FROM </a:t>
            </a:r>
            <a:r>
              <a:rPr lang="en-IN" sz="1800" b="1" dirty="0" err="1"/>
              <a:t>pharma_sales_final</a:t>
            </a:r>
            <a:endParaRPr lang="en-IN" sz="1800" b="1" dirty="0"/>
          </a:p>
          <a:p>
            <a:pPr marL="0" indent="0">
              <a:buNone/>
            </a:pPr>
            <a:r>
              <a:rPr lang="en-IN" sz="1800" b="1" dirty="0"/>
              <a:t>    GROUP BY Date</a:t>
            </a:r>
          </a:p>
          <a:p>
            <a:pPr marL="0" indent="0">
              <a:buNone/>
            </a:pPr>
            <a:r>
              <a:rPr lang="en-IN" sz="1800" b="1" dirty="0"/>
              <a:t>    HAVING SUM(Sales) = 0</a:t>
            </a:r>
          </a:p>
          <a:p>
            <a:pPr marL="0" indent="0">
              <a:buNone/>
            </a:pPr>
            <a:r>
              <a:rPr lang="en-IN" sz="1800" b="1" dirty="0"/>
              <a:t>) AS t;</a:t>
            </a:r>
            <a:endParaRPr lang="en-US" sz="18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3A4CC4-1F8A-AB63-8D55-715494022F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20425" y="4399287"/>
            <a:ext cx="4316222" cy="214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670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C71F0F-F48C-D380-FC8E-81387838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4A5D18-A8ED-B5B4-836E-E7117C2D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5AEFDB-B268-368A-8008-B621FF62E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0EF7C0-6129-DBB3-7F37-103057716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000BE6-1B91-3984-D297-933322F45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A4FDB4-BA3F-B7B8-6EE0-03B3FAE6C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B48BCF-D03E-EDE8-44A2-634BFCC7C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CFCF0-D708-6F90-9958-D8B663E86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CD52C-3A42-858F-A262-C26B077F7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0425" y="431800"/>
            <a:ext cx="4999675" cy="26797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IN" sz="2000" b="1" u="sng" dirty="0"/>
              <a:t>Category Contribution %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IN" sz="1800" b="1" dirty="0"/>
              <a:t>SELECT </a:t>
            </a:r>
          </a:p>
          <a:p>
            <a:pPr marL="0" indent="0">
              <a:buNone/>
            </a:pPr>
            <a:r>
              <a:rPr lang="en-IN" sz="1800" b="1" dirty="0"/>
              <a:t>    </a:t>
            </a:r>
            <a:r>
              <a:rPr lang="en-IN" sz="1800" b="1" dirty="0" err="1"/>
              <a:t>ATC_Code</a:t>
            </a:r>
            <a:r>
              <a:rPr lang="en-IN" sz="1800" b="1" dirty="0"/>
              <a:t>,</a:t>
            </a:r>
          </a:p>
          <a:p>
            <a:pPr marL="0" indent="0">
              <a:buNone/>
            </a:pPr>
            <a:r>
              <a:rPr lang="en-GB" sz="1800" b="1" dirty="0"/>
              <a:t>    SUM(Sales) * 100.0 / (SELECT SUM(Sales) FROM </a:t>
            </a:r>
            <a:r>
              <a:rPr lang="en-GB" sz="1800" b="1" dirty="0" err="1"/>
              <a:t>pharma_sales_final</a:t>
            </a:r>
            <a:r>
              <a:rPr lang="en-GB" sz="1800" b="1" dirty="0"/>
              <a:t>) AS </a:t>
            </a:r>
            <a:r>
              <a:rPr lang="en-GB" sz="1800" b="1" dirty="0" err="1"/>
              <a:t>Contribution_Percent</a:t>
            </a:r>
            <a:endParaRPr lang="en-GB" sz="1800" b="1" dirty="0"/>
          </a:p>
          <a:p>
            <a:pPr marL="0" indent="0">
              <a:buNone/>
            </a:pPr>
            <a:r>
              <a:rPr lang="en-IN" sz="1800" b="1" dirty="0"/>
              <a:t>FROM </a:t>
            </a:r>
            <a:r>
              <a:rPr lang="en-IN" sz="1800" b="1" dirty="0" err="1"/>
              <a:t>pharma_sales_final</a:t>
            </a:r>
            <a:endParaRPr lang="en-IN" sz="1800" b="1" dirty="0"/>
          </a:p>
          <a:p>
            <a:pPr marL="0" indent="0">
              <a:buNone/>
            </a:pPr>
            <a:r>
              <a:rPr lang="en-IN" sz="1800" b="1" dirty="0"/>
              <a:t>GROUP BY </a:t>
            </a:r>
            <a:r>
              <a:rPr lang="en-IN" sz="1800" b="1" dirty="0" err="1"/>
              <a:t>ATC_Code</a:t>
            </a:r>
            <a:r>
              <a:rPr lang="en-IN" sz="1800" b="1" dirty="0"/>
              <a:t>;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015B63A-FB9C-0F5C-6E8B-E3A0484623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277520" y="3439138"/>
            <a:ext cx="4555210" cy="325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51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E5F76-5A76-0FF9-EE80-42476E59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3C3875F-A389-2A96-6711-F2ED949F8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D8ACCC-B646-ACD9-0857-7DF806F31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1CB92C-28DB-150F-6B52-0D7B3B73A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25D08C-3B49-9990-63D3-17E7D9834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95B4057-AB08-592D-90D7-3C872B3C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9F00A2-2B6E-A176-D651-DE1861691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5FC51-641F-3D10-EB4D-AC79D61C5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BC7A3-00A2-F0D3-D6B7-2F15E5DAE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0425" y="439838"/>
            <a:ext cx="4450360" cy="2299280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IN" sz="3200" b="1" u="sng" dirty="0"/>
              <a:t> Sales Consistency</a:t>
            </a:r>
          </a:p>
          <a:p>
            <a:pPr marL="0" indent="0">
              <a:buNone/>
            </a:pPr>
            <a:endParaRPr lang="en-IN" sz="3200" b="1" u="sng" dirty="0"/>
          </a:p>
          <a:p>
            <a:pPr marL="0" indent="0">
              <a:buNone/>
            </a:pPr>
            <a:r>
              <a:rPr lang="en-IN" sz="3200" b="1" dirty="0"/>
              <a:t> </a:t>
            </a:r>
            <a:r>
              <a:rPr lang="en-GB" sz="2900" b="1" dirty="0"/>
              <a:t>SELECT </a:t>
            </a:r>
            <a:r>
              <a:rPr lang="en-GB" sz="2900" b="1" dirty="0" err="1"/>
              <a:t>ATC_Code</a:t>
            </a:r>
            <a:r>
              <a:rPr lang="en-GB" sz="2900" b="1" dirty="0"/>
              <a:t>, COUNT(*) AS </a:t>
            </a:r>
            <a:r>
              <a:rPr lang="en-GB" sz="2900" b="1" dirty="0" err="1"/>
              <a:t>Active_Days</a:t>
            </a:r>
            <a:endParaRPr lang="en-GB" sz="2900" b="1" dirty="0"/>
          </a:p>
          <a:p>
            <a:pPr marL="0" indent="0">
              <a:buNone/>
            </a:pPr>
            <a:r>
              <a:rPr lang="en-IN" sz="2900" b="1" dirty="0"/>
              <a:t>FROM </a:t>
            </a:r>
            <a:r>
              <a:rPr lang="en-IN" sz="2900" b="1" dirty="0" err="1"/>
              <a:t>pharma_sales_final</a:t>
            </a:r>
            <a:endParaRPr lang="en-IN" sz="2900" b="1" dirty="0"/>
          </a:p>
          <a:p>
            <a:pPr marL="0" indent="0">
              <a:buNone/>
            </a:pPr>
            <a:r>
              <a:rPr lang="en-IN" sz="2900" b="1" dirty="0"/>
              <a:t>WHERE Sales &gt; 0</a:t>
            </a:r>
          </a:p>
          <a:p>
            <a:pPr marL="0" indent="0">
              <a:buNone/>
            </a:pPr>
            <a:r>
              <a:rPr lang="en-IN" sz="2900" b="1" dirty="0"/>
              <a:t>GROUP BY </a:t>
            </a:r>
            <a:r>
              <a:rPr lang="en-IN" sz="2900" b="1" dirty="0" err="1"/>
              <a:t>ATC_Code</a:t>
            </a:r>
            <a:r>
              <a:rPr lang="en-IN" sz="2900" b="1" dirty="0"/>
              <a:t>;</a:t>
            </a:r>
            <a:endParaRPr lang="en-US" sz="29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4C053F-B1F1-B457-B31B-CAD62B4E14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20425" y="3196954"/>
            <a:ext cx="4358382" cy="366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5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B4211-2BFA-75F0-ACC6-09002E64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0D47E3F-5CCB-D52E-7806-A4352024D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CB01A4-7353-DF77-5E16-FE443A416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EE6307-EA3B-B222-B9CC-65D30C304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5A523D-8E2D-C2F4-A649-B8EE42C2B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7FB2D39-CAFB-7CEC-BF05-6A2FC639D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ECB278-6F04-7D8A-4682-29166083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1164B-2FE2-5DBB-BAB2-D5C61B20E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58E75-953C-E8A1-8812-17AB9C9F7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0425" y="495300"/>
            <a:ext cx="4682175" cy="2243818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IN" b="1" u="sng" dirty="0"/>
              <a:t>Demand Variability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SELECT </a:t>
            </a:r>
            <a:r>
              <a:rPr lang="en-IN" b="1" dirty="0" err="1"/>
              <a:t>ATC_Code</a:t>
            </a:r>
            <a:r>
              <a:rPr lang="en-IN" b="1" dirty="0"/>
              <a:t>, </a:t>
            </a:r>
          </a:p>
          <a:p>
            <a:pPr marL="0" indent="0">
              <a:buNone/>
            </a:pPr>
            <a:r>
              <a:rPr lang="en-GB" b="1" dirty="0"/>
              <a:t>       MAX(Sales) - MIN(Sales) AS Variability</a:t>
            </a:r>
          </a:p>
          <a:p>
            <a:pPr marL="0" indent="0">
              <a:buNone/>
            </a:pPr>
            <a:r>
              <a:rPr lang="en-IN" b="1" dirty="0"/>
              <a:t>FROM </a:t>
            </a:r>
            <a:r>
              <a:rPr lang="en-IN" b="1" dirty="0" err="1"/>
              <a:t>pharma_sales_final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GROUP BY </a:t>
            </a:r>
            <a:r>
              <a:rPr lang="en-IN" b="1" dirty="0" err="1"/>
              <a:t>ATC_Code</a:t>
            </a:r>
            <a:r>
              <a:rPr lang="en-IN" b="1" dirty="0"/>
              <a:t>;</a:t>
            </a:r>
            <a:endParaRPr lang="en-US" sz="17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37D62F-3843-6914-28D4-E7DC17AE9C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24635" y="2923333"/>
            <a:ext cx="4225596" cy="366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560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D3012-0435-D151-5D19-0EBFE40C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B216C51-FC34-CFE2-E694-091A40E0D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89D855-5504-10B6-6118-D16F91793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C2906B-175D-C367-13CA-70879C2F7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117A11-CEFC-B18A-6AFD-456A220A6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283CCC7-E310-4752-2C21-9159B9301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3AA776-B9DE-6675-2C28-FCD2D671E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47EA7D-FBF8-E163-2615-40B651358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9A35C-3DDC-36F9-B828-6E9979DB7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0425" y="586855"/>
            <a:ext cx="5373534" cy="2689745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IN" b="1" u="sng" dirty="0"/>
              <a:t>Best Week sale performance</a:t>
            </a:r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r>
              <a:rPr lang="en-IN" b="1" dirty="0"/>
              <a:t>SELECT TOP 1 </a:t>
            </a:r>
          </a:p>
          <a:p>
            <a:pPr marL="0" indent="0">
              <a:buNone/>
            </a:pPr>
            <a:r>
              <a:rPr lang="en-IN" b="1" dirty="0"/>
              <a:t>    </a:t>
            </a:r>
            <a:r>
              <a:rPr lang="en-IN" b="1" dirty="0" err="1"/>
              <a:t>Week_Number</a:t>
            </a:r>
            <a:r>
              <a:rPr lang="en-IN" b="1" dirty="0"/>
              <a:t>,</a:t>
            </a:r>
          </a:p>
          <a:p>
            <a:pPr marL="0" indent="0">
              <a:buNone/>
            </a:pPr>
            <a:r>
              <a:rPr lang="en-GB" b="1" dirty="0"/>
              <a:t>    SUM(Sales) AS </a:t>
            </a:r>
            <a:r>
              <a:rPr lang="en-GB" b="1" dirty="0" err="1"/>
              <a:t>Total_Sales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FROM </a:t>
            </a:r>
            <a:r>
              <a:rPr lang="en-GB" b="1" dirty="0" err="1"/>
              <a:t>pharma_sales_weekly_final</a:t>
            </a:r>
            <a:endParaRPr lang="en-GB" b="1" dirty="0"/>
          </a:p>
          <a:p>
            <a:pPr marL="0" indent="0">
              <a:buNone/>
            </a:pPr>
            <a:r>
              <a:rPr lang="en-IN" b="1" dirty="0"/>
              <a:t>GROUP BY </a:t>
            </a:r>
            <a:r>
              <a:rPr lang="en-IN" b="1" dirty="0" err="1"/>
              <a:t>Week_Number</a:t>
            </a:r>
            <a:endParaRPr lang="en-IN" b="1" dirty="0"/>
          </a:p>
          <a:p>
            <a:pPr marL="0" indent="0">
              <a:buNone/>
            </a:pPr>
            <a:r>
              <a:rPr lang="en-GB" b="1" dirty="0"/>
              <a:t>ORDER BY </a:t>
            </a:r>
            <a:r>
              <a:rPr lang="en-GB" b="1" dirty="0" err="1"/>
              <a:t>Total_Sales</a:t>
            </a:r>
            <a:r>
              <a:rPr lang="en-GB" b="1" dirty="0"/>
              <a:t> DESC;</a:t>
            </a:r>
            <a:endParaRPr lang="en-US" sz="17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9136FF-EEF7-954B-9FF1-323E31E361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93925" y="3399606"/>
            <a:ext cx="4303933" cy="176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6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8DCC2-439E-CC7C-BC84-F59ED2EC5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69747-9C35-4E9A-B8DE-967D4AFB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9A2B1-F15B-D542-141B-785A1CA41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6295" y="649480"/>
            <a:ext cx="226897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2000" b="1" u="sng" dirty="0"/>
              <a:t>Hourly Trend sale</a:t>
            </a:r>
            <a:r>
              <a:rPr lang="en-US" sz="1700" b="1" u="sng" dirty="0"/>
              <a:t> </a:t>
            </a:r>
          </a:p>
          <a:p>
            <a:pPr marL="0" indent="0" defTabSz="914400">
              <a:lnSpc>
                <a:spcPct val="90000"/>
              </a:lnSpc>
              <a:buNone/>
            </a:pPr>
            <a:endParaRPr lang="en-US" sz="1700" b="1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700" b="1" dirty="0"/>
              <a:t>SELECT 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700" b="1" dirty="0"/>
              <a:t>    Hours,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700" b="1" dirty="0"/>
              <a:t>    SUM(Sales) AS </a:t>
            </a:r>
            <a:r>
              <a:rPr lang="en-US" sz="1700" b="1" dirty="0" err="1"/>
              <a:t>Total_Sales</a:t>
            </a:r>
            <a:endParaRPr lang="en-US" sz="1700" b="1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700" b="1" dirty="0"/>
              <a:t>FROM </a:t>
            </a:r>
            <a:r>
              <a:rPr lang="en-US" sz="1700" b="1" dirty="0" err="1"/>
              <a:t>pharma_sales_hourly_final</a:t>
            </a:r>
            <a:endParaRPr lang="en-US" sz="1700" b="1" dirty="0"/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700" b="1" dirty="0"/>
              <a:t>GROUP BY Hours</a:t>
            </a: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700" b="1" dirty="0"/>
              <a:t>ORDER BY Hours;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98E9B9-9766-FB00-B25C-00C67DC24F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84062" y="473654"/>
            <a:ext cx="2707960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69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495AD1-B36F-0B6A-F4CE-769F92ED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C37DBD-2A7D-C846-D506-BD9B41CC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F0C04-E199-4EBE-1E6E-CEA94208A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6295" y="10139"/>
            <a:ext cx="2603817" cy="67263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u="sng" dirty="0"/>
              <a:t>Top 2 Months sale per Year</a:t>
            </a:r>
          </a:p>
          <a:p>
            <a:pPr marL="114300" indent="0" defTabSz="914400">
              <a:lnSpc>
                <a:spcPct val="90000"/>
              </a:lnSpc>
              <a:buNone/>
            </a:pPr>
            <a:endParaRPr lang="en-US" sz="1600" b="1" u="sng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WITH </a:t>
            </a:r>
            <a:r>
              <a:rPr lang="en-US" sz="1600" b="1" dirty="0" err="1"/>
              <a:t>MonthlySales</a:t>
            </a:r>
            <a:r>
              <a:rPr lang="en-US" sz="1600" b="1" dirty="0"/>
              <a:t> AS (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SELECT 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    Year,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    Month,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    SUM(Sales) AS </a:t>
            </a:r>
            <a:r>
              <a:rPr lang="en-US" sz="1600" b="1" dirty="0" err="1"/>
              <a:t>Total_Sales</a:t>
            </a:r>
            <a:r>
              <a:rPr lang="en-US" sz="1600" b="1" dirty="0"/>
              <a:t>,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    ROW_NUMBER() OVER (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        PARTITION BY Year 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        ORDER BY SUM(Sales) DESC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    ) AS </a:t>
            </a:r>
            <a:r>
              <a:rPr lang="en-US" sz="1600" b="1" dirty="0" err="1"/>
              <a:t>rn</a:t>
            </a:r>
            <a:endParaRPr lang="en-US" sz="1600" b="1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FROM </a:t>
            </a:r>
            <a:r>
              <a:rPr lang="en-US" sz="1600" b="1" dirty="0" err="1"/>
              <a:t>pharma_sales_monthly_final</a:t>
            </a:r>
            <a:endParaRPr lang="en-US" sz="1600" b="1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GROUP BY Year, Month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)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SELECT 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Year,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    Month,    </a:t>
            </a:r>
            <a:r>
              <a:rPr lang="en-US" sz="1600" b="1" dirty="0" err="1"/>
              <a:t>Total_Sales</a:t>
            </a:r>
            <a:endParaRPr lang="en-US" sz="1600" b="1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FROM  </a:t>
            </a:r>
            <a:r>
              <a:rPr lang="en-US" sz="1600" b="1" dirty="0" err="1"/>
              <a:t>MonthlySales</a:t>
            </a:r>
            <a:endParaRPr lang="en-US" sz="1600" b="1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 dirty="0"/>
              <a:t>WHERE </a:t>
            </a:r>
            <a:r>
              <a:rPr lang="en-US" sz="1600" b="1" dirty="0" err="1"/>
              <a:t>rn</a:t>
            </a:r>
            <a:r>
              <a:rPr lang="en-US" sz="1600" b="1" dirty="0"/>
              <a:t> &lt;= 2;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6B6A929-9130-23D2-B1C5-D07878B788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82126" y="1780973"/>
            <a:ext cx="2711832" cy="330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18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981480-F8CC-62E1-9EAF-0E2297131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5FCD462-158E-9368-9464-6504B377B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37B9D0-FF83-1AC2-4372-3C78B3F6E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383237-F2E2-B802-3DEB-BFA1B32B5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EBB4C0-43B6-E605-8259-427D48633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486C64C9-4F55-280B-C1A0-E1F538BCC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395591E-845C-2366-E447-4884F04A8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D2640-A00A-089B-E08D-2DBA94A06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85330-0EB0-1266-F895-2025C8095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6295" y="649480"/>
            <a:ext cx="2268977" cy="5546047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/>
              <a:t>Best Month Overall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SELECT TOP 1 </a:t>
            </a:r>
          </a:p>
          <a:p>
            <a:pPr marL="0" indent="0">
              <a:buNone/>
            </a:pPr>
            <a:r>
              <a:rPr lang="en-IN" b="1" dirty="0"/>
              <a:t>    Month,</a:t>
            </a:r>
          </a:p>
          <a:p>
            <a:pPr marL="0" indent="0">
              <a:buNone/>
            </a:pPr>
            <a:r>
              <a:rPr lang="en-GB" b="1" dirty="0"/>
              <a:t>    SUM(Sales) AS </a:t>
            </a:r>
            <a:r>
              <a:rPr lang="en-GB" b="1" dirty="0" err="1"/>
              <a:t>Total_Sales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FROM </a:t>
            </a:r>
            <a:r>
              <a:rPr lang="en-GB" b="1" dirty="0" err="1"/>
              <a:t>pharma_sales_monthly_final</a:t>
            </a:r>
            <a:endParaRPr lang="en-GB" b="1" dirty="0"/>
          </a:p>
          <a:p>
            <a:pPr marL="0" indent="0">
              <a:buNone/>
            </a:pPr>
            <a:r>
              <a:rPr lang="en-IN" b="1" dirty="0"/>
              <a:t>GROUP BY Month</a:t>
            </a:r>
          </a:p>
          <a:p>
            <a:pPr marL="0" indent="0">
              <a:buNone/>
            </a:pPr>
            <a:r>
              <a:rPr lang="en-GB" b="1" dirty="0"/>
              <a:t>ORDER BY </a:t>
            </a:r>
            <a:r>
              <a:rPr lang="en-GB" b="1" dirty="0" err="1"/>
              <a:t>Total_Sales</a:t>
            </a:r>
            <a:r>
              <a:rPr lang="en-GB" b="1" dirty="0"/>
              <a:t> DESC;</a:t>
            </a:r>
            <a:endParaRPr lang="en-US" sz="17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AE6A88F-93AE-F947-6E02-B71B92EF00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93558" y="2037233"/>
            <a:ext cx="2800401" cy="204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57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941AB-34C3-FCE5-7DDA-129D0F78C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2EB99-2F90-C05F-3CAA-307DD0212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Analysis &amp;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E2303-F7CB-C7D7-EF6C-E65E90D76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6295" y="649480"/>
            <a:ext cx="226897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0" defTabSz="914400">
              <a:lnSpc>
                <a:spcPct val="90000"/>
              </a:lnSpc>
              <a:buNone/>
            </a:pPr>
            <a:r>
              <a:rPr lang="en-US" sz="1800" b="1" u="sng" dirty="0"/>
              <a:t>Yearly Growth of sale</a:t>
            </a:r>
          </a:p>
          <a:p>
            <a:pPr marL="114300" indent="0" defTabSz="914400">
              <a:lnSpc>
                <a:spcPct val="90000"/>
              </a:lnSpc>
              <a:buNone/>
            </a:pPr>
            <a:endParaRPr lang="en-US" sz="1800" b="1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800" b="1" dirty="0"/>
              <a:t>SELECT 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800" b="1" dirty="0"/>
              <a:t>    Year,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800" b="1" dirty="0"/>
              <a:t>    SUM(Sales) AS </a:t>
            </a:r>
            <a:r>
              <a:rPr lang="en-US" sz="1800" b="1" dirty="0" err="1"/>
              <a:t>Total_Sales</a:t>
            </a:r>
            <a:endParaRPr lang="en-US" sz="1800" b="1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800" b="1" dirty="0"/>
              <a:t>FROM </a:t>
            </a:r>
            <a:r>
              <a:rPr lang="en-US" sz="1800" b="1" dirty="0" err="1"/>
              <a:t>pharma_sales_monthly_final</a:t>
            </a:r>
            <a:endParaRPr lang="en-US" sz="1800" b="1" dirty="0"/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800" b="1" dirty="0"/>
              <a:t>GROUP BY Year</a:t>
            </a: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800" b="1" dirty="0"/>
              <a:t>ORDER BY Year;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798B25-4811-60AE-ADF7-EABD0319E9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82126" y="2325947"/>
            <a:ext cx="2711832" cy="221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4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F8B29C-C8AD-C660-C530-B71B6C1B2E69}"/>
              </a:ext>
            </a:extLst>
          </p:cNvPr>
          <p:cNvSpPr txBox="1"/>
          <p:nvPr/>
        </p:nvSpPr>
        <p:spPr>
          <a:xfrm>
            <a:off x="1520019" y="1030406"/>
            <a:ext cx="6110785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2513358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1343</TotalTime>
  <Words>577</Words>
  <Application>Microsoft Office PowerPoint</Application>
  <PresentationFormat>On-screen Show (4:3)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SQL Analysis &amp; Data Processing</vt:lpstr>
      <vt:lpstr>SQL Analysis &amp; Data Processing</vt:lpstr>
      <vt:lpstr>SQL Analysis &amp; Data Processing</vt:lpstr>
      <vt:lpstr>SQL Analysis &amp; Data Processing</vt:lpstr>
      <vt:lpstr>SQL Analysis &amp; Data Processing</vt:lpstr>
      <vt:lpstr>SQL Analysis &amp; Data Processing</vt:lpstr>
      <vt:lpstr>SQL Analysis &amp; Data Processing</vt:lpstr>
      <vt:lpstr>SQL Analysis &amp; Data Processing</vt:lpstr>
      <vt:lpstr>SQL Analysis &amp; Data Processing</vt:lpstr>
      <vt:lpstr>SQL Analysis &amp; Data Processing</vt:lpstr>
      <vt:lpstr>SQL Analysis &amp; Data Processing</vt:lpstr>
      <vt:lpstr>SQL Analysis &amp; Data Processing</vt:lpstr>
      <vt:lpstr>SQL Analysis &amp; Data Processing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keshav saravade</dc:creator>
  <cp:keywords/>
  <dc:description>generated using python-pptx</dc:description>
  <cp:lastModifiedBy>keshav saravade</cp:lastModifiedBy>
  <cp:revision>11</cp:revision>
  <dcterms:created xsi:type="dcterms:W3CDTF">2013-01-27T09:14:16Z</dcterms:created>
  <dcterms:modified xsi:type="dcterms:W3CDTF">2026-05-03T11:10:09Z</dcterms:modified>
  <cp:category/>
</cp:coreProperties>
</file>