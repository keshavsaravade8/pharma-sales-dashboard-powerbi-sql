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56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47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060705"/>
            <a:ext cx="8458200" cy="4736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alytic 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75" y="457200"/>
            <a:ext cx="800484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58BBBA-A7EA-8E14-7294-630ED0B35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13" y="395939"/>
            <a:ext cx="8458200" cy="46308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3369FD-EC30-0C8F-C703-7D8E650777EF}"/>
              </a:ext>
            </a:extLst>
          </p:cNvPr>
          <p:cNvSpPr txBox="1"/>
          <p:nvPr/>
        </p:nvSpPr>
        <p:spPr>
          <a:xfrm>
            <a:off x="342613" y="5157357"/>
            <a:ext cx="82568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Sales show strong 17% YoY growth, indicating increasing demand  </a:t>
            </a:r>
          </a:p>
          <a:p>
            <a:r>
              <a:rPr lang="en-GB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Consistent upward trend with peak performance in late 2019  </a:t>
            </a:r>
          </a:p>
          <a:p>
            <a:r>
              <a:rPr lang="en-GB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Seasonal patterns observed with predictable demand cycles  </a:t>
            </a:r>
          </a:p>
          <a:p>
            <a:r>
              <a:rPr lang="en-GB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Performance tracking enabled using Previous MTD benchmarks  </a:t>
            </a:r>
          </a:p>
          <a:p>
            <a:r>
              <a:rPr lang="en-GB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Sudden drop at the end likely due to data anomaly, not actual decline  </a:t>
            </a:r>
          </a:p>
          <a:p>
            <a:r>
              <a:rPr lang="en-GB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• Opportunity to optimize planning based on trends and growth drivers </a:t>
            </a:r>
            <a:endParaRPr lang="en-IN" sz="1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y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259046"/>
            <a:ext cx="8458200" cy="46731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098246-932B-C8A4-B84C-47B32DCE3E79}"/>
              </a:ext>
            </a:extLst>
          </p:cNvPr>
          <p:cNvSpPr txBox="1"/>
          <p:nvPr/>
        </p:nvSpPr>
        <p:spPr>
          <a:xfrm>
            <a:off x="342900" y="5017723"/>
            <a:ext cx="731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GB" dirty="0"/>
              <a:t>• YTD performance shows clear growth compared to Previous YTD  </a:t>
            </a:r>
          </a:p>
          <a:p>
            <a:r>
              <a:rPr lang="en-GB" dirty="0"/>
              <a:t>• Consistent outperformance indicates improved sales efficiency  </a:t>
            </a:r>
          </a:p>
          <a:p>
            <a:r>
              <a:rPr lang="en-GB" dirty="0"/>
              <a:t>• Seasonal patterns remain stable across both periods  </a:t>
            </a:r>
          </a:p>
          <a:p>
            <a:r>
              <a:rPr lang="en-GB" dirty="0"/>
              <a:t>• Key months drive significant contribution to overall growth  </a:t>
            </a:r>
          </a:p>
          <a:p>
            <a:r>
              <a:rPr lang="en-GB" dirty="0"/>
              <a:t>• Performance gaps highlight scope for improvement in low periods  </a:t>
            </a:r>
          </a:p>
          <a:p>
            <a:r>
              <a:rPr lang="en-GB" dirty="0"/>
              <a:t>• Spikes or drops should be monitored for data accuracy 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AC537B-9028-D14E-438D-68E779213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13" y="69976"/>
            <a:ext cx="8458200" cy="45251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C14AAA-E8A3-E778-2433-23AD61449FBC}"/>
              </a:ext>
            </a:extLst>
          </p:cNvPr>
          <p:cNvSpPr txBox="1"/>
          <p:nvPr/>
        </p:nvSpPr>
        <p:spPr>
          <a:xfrm>
            <a:off x="520861" y="4780344"/>
            <a:ext cx="7674015" cy="177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GB" dirty="0"/>
              <a:t>• Sales show high yearly volatility with a major dip in 2017 and recovery in 2018  </a:t>
            </a:r>
          </a:p>
          <a:p>
            <a:r>
              <a:rPr lang="en-GB" dirty="0"/>
              <a:t>• October is the top-performing month, while July records the lowest sales  </a:t>
            </a:r>
          </a:p>
          <a:p>
            <a:r>
              <a:rPr lang="en-GB" dirty="0"/>
              <a:t>• 2016 stands as the peak year in overall performance  </a:t>
            </a:r>
          </a:p>
          <a:p>
            <a:r>
              <a:rPr lang="en-GB" dirty="0"/>
              <a:t>• Strong performance observed in Q1 (Jan–Mar)  </a:t>
            </a:r>
          </a:p>
          <a:p>
            <a:r>
              <a:rPr lang="en-GB" dirty="0"/>
              <a:t>• Clear seasonal trends with early growth and mid-year slowdown  </a:t>
            </a:r>
          </a:p>
          <a:p>
            <a:r>
              <a:rPr lang="en-GB" dirty="0"/>
              <a:t>• Opportunity to optimize low months and leverage peak periods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186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AC4B0-73B7-E2D9-DA85-64679694D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87878"/>
            <a:ext cx="8458200" cy="49691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E3CCB4-4848-D375-F51C-0AE39A0A6BF5}"/>
              </a:ext>
            </a:extLst>
          </p:cNvPr>
          <p:cNvSpPr txBox="1"/>
          <p:nvPr/>
        </p:nvSpPr>
        <p:spPr>
          <a:xfrm>
            <a:off x="342900" y="5155973"/>
            <a:ext cx="70952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GB" dirty="0"/>
              <a:t>• N02BE is the dominant category driving the highest sales  </a:t>
            </a:r>
          </a:p>
          <a:p>
            <a:r>
              <a:rPr lang="en-GB" dirty="0"/>
              <a:t>• Top 3 categories contribute majority of total revenue  </a:t>
            </a:r>
          </a:p>
          <a:p>
            <a:r>
              <a:rPr lang="en-GB" dirty="0"/>
              <a:t>• N05C is the lowest-performing category with minimal sales  </a:t>
            </a:r>
          </a:p>
          <a:p>
            <a:r>
              <a:rPr lang="en-GB" dirty="0"/>
              <a:t>• High variability in N02BE indicates fluctuating demand  </a:t>
            </a:r>
          </a:p>
          <a:p>
            <a:r>
              <a:rPr lang="en-GB" dirty="0"/>
              <a:t>• Stable demand observed in NSAID and Allergy categories  </a:t>
            </a:r>
          </a:p>
          <a:p>
            <a:r>
              <a:rPr lang="en-GB" dirty="0"/>
              <a:t>• Sales concentration highlights need for product diversification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7361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AD3712-0274-1E5E-90BF-03249DCB1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13" y="138897"/>
            <a:ext cx="7985975" cy="46993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FE38AE-6A67-7550-B18C-671C0CCAD3A9}"/>
              </a:ext>
            </a:extLst>
          </p:cNvPr>
          <p:cNvSpPr txBox="1"/>
          <p:nvPr/>
        </p:nvSpPr>
        <p:spPr>
          <a:xfrm>
            <a:off x="660313" y="4976687"/>
            <a:ext cx="75692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GB" dirty="0"/>
              <a:t>• Total sales reach 127.6K, showing strong overall performance  </a:t>
            </a:r>
          </a:p>
          <a:p>
            <a:r>
              <a:rPr lang="en-GB" dirty="0"/>
              <a:t>• Peak sales occur between 10 AM – 8 PM, with highest activity in evening hours  </a:t>
            </a:r>
          </a:p>
          <a:p>
            <a:r>
              <a:rPr lang="en-GB" dirty="0"/>
              <a:t>• Minimal sales observed during early morning and  late night hours  </a:t>
            </a:r>
          </a:p>
          <a:p>
            <a:r>
              <a:rPr lang="en-GB" dirty="0"/>
              <a:t>• Saturday is the top-performing day, while weekdays show stable demand  </a:t>
            </a:r>
          </a:p>
          <a:p>
            <a:r>
              <a:rPr lang="en-GB" dirty="0"/>
              <a:t>• Weekly trend shows fluctuations with mid-year dip and later recovery  </a:t>
            </a:r>
          </a:p>
          <a:p>
            <a:r>
              <a:rPr lang="en-GB" dirty="0"/>
              <a:t>• Overall sales pattern is consistent with clear peak periods and variability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4797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7C53F-4EB3-AECA-46A7-1D5527A61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42" y="578734"/>
            <a:ext cx="8814871" cy="600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55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F8B29C-C8AD-C660-C530-B71B6C1B2E69}"/>
              </a:ext>
            </a:extLst>
          </p:cNvPr>
          <p:cNvSpPr txBox="1"/>
          <p:nvPr/>
        </p:nvSpPr>
        <p:spPr>
          <a:xfrm>
            <a:off x="1520019" y="1030406"/>
            <a:ext cx="6110785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2513358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1482</TotalTime>
  <Words>317</Words>
  <Application>Microsoft Office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keshav saravade</dc:creator>
  <cp:keywords/>
  <dc:description>generated using python-pptx</dc:description>
  <cp:lastModifiedBy>keshav saravade</cp:lastModifiedBy>
  <cp:revision>13</cp:revision>
  <dcterms:created xsi:type="dcterms:W3CDTF">2013-01-27T09:14:16Z</dcterms:created>
  <dcterms:modified xsi:type="dcterms:W3CDTF">2026-05-03T13:47:43Z</dcterms:modified>
  <cp:category/>
</cp:coreProperties>
</file>